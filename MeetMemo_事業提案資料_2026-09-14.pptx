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年間売上高（万円）</c:v>
                </c:pt>
              </c:strCache>
            </c:strRef>
          </c:tx>
          <c:spPr>
            <a:solidFill>
              <a:srgbClr val="009E8D"/>
            </a:solidFill>
          </c:spPr>
          <c:cat>
            <c:strRef>
              <c:f>Sheet1!$A$2:$A$4</c:f>
              <c:strCache>
                <c:ptCount val="3"/>
                <c:pt idx="0">
                  <c:v>Year1</c:v>
                </c:pt>
                <c:pt idx="1">
                  <c:v>Year2</c:v>
                </c:pt>
                <c:pt idx="2">
                  <c:v>Year3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1350</c:v>
                </c:pt>
                <c:pt idx="1">
                  <c:v>6750</c:v>
                </c:pt>
                <c:pt idx="2">
                  <c:v>24840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総コスト（万円）</c:v>
                </c:pt>
              </c:strCache>
            </c:strRef>
          </c:tx>
          <c:spPr>
            <a:solidFill>
              <a:srgbClr val="C9CED6"/>
            </a:solidFill>
          </c:spPr>
          <c:cat>
            <c:strRef>
              <c:f>Sheet1!$A$2:$A$4</c:f>
              <c:strCache>
                <c:ptCount val="3"/>
                <c:pt idx="0">
                  <c:v>Year1</c:v>
                </c:pt>
                <c:pt idx="1">
                  <c:v>Year2</c:v>
                </c:pt>
                <c:pt idx="2">
                  <c:v>Year3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3400</c:v>
                </c:pt>
                <c:pt idx="1">
                  <c:v>7900</c:v>
                </c:pt>
                <c:pt idx="2">
                  <c:v>15100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50">
                <a:latin typeface="Yu Gothic U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50">
                <a:latin typeface="Yu Gothic UI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latin typeface="Yu Gothic U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009E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31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9FB4D4"/>
                </a:solidFill>
                <a:latin typeface="Yu Gothic UI"/>
              </a:rPr>
              <a:t>事業提案資料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Yu Gothic UI"/>
              </a:rPr>
              <a:t>MeetMemo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43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D7DFEA"/>
                </a:solidFill>
                <a:latin typeface="Yu Gothic UI"/>
              </a:rPr>
              <a:t>会議録音をAIが自動で議事録化し、タスクを抽出して担当者に通知するSaaS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26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C9BB5"/>
                </a:solidFill>
                <a:latin typeface="Yu Gothic UI"/>
              </a:rPr>
              <a:t>2026年9月14日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8C9BB5"/>
                </a:solidFill>
                <a:latin typeface="Yu Gothic UI"/>
              </a:rPr>
              <a:t>対象：課題検証／PEST・SWOT・3C分析／事業計画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E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9E8D"/>
                </a:solidFill>
                <a:latin typeface="Yu Gothic UI"/>
              </a:rPr>
              <a:t>01  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43E"/>
                </a:solidFill>
                <a:latin typeface="Yu Gothic UI"/>
              </a:rPr>
              <a:t>目次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11155680" cy="17780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9AEB6"/>
                </a:solidFill>
                <a:latin typeface="Yu Gothic UI"/>
              </a:rPr>
              <a:t>MeetMemo 事業提案資料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9AEB6"/>
                </a:solidFill>
                <a:latin typeface="Yu Gothic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73736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2200"/>
              </a:spcAft>
            </a:pPr>
            <a:r>
              <a:rPr sz="1800" b="1">
                <a:solidFill>
                  <a:srgbClr val="16243E"/>
                </a:solidFill>
                <a:latin typeface="Yu Gothic UI"/>
              </a:rPr>
              <a:t>● 01  エグゼクティブサマリー</a:t>
            </a:r>
          </a:p>
          <a:p>
            <a:pPr>
              <a:lnSpc>
                <a:spcPct val="108000"/>
              </a:lnSpc>
              <a:spcAft>
                <a:spcPts val="2200"/>
              </a:spcAft>
            </a:pPr>
            <a:r>
              <a:rPr sz="1800" b="1">
                <a:solidFill>
                  <a:srgbClr val="16243E"/>
                </a:solidFill>
                <a:latin typeface="Yu Gothic UI"/>
              </a:rPr>
              <a:t>● 02  課題と解決策</a:t>
            </a:r>
          </a:p>
          <a:p>
            <a:pPr>
              <a:lnSpc>
                <a:spcPct val="108000"/>
              </a:lnSpc>
              <a:spcAft>
                <a:spcPts val="2200"/>
              </a:spcAft>
            </a:pPr>
            <a:r>
              <a:rPr sz="1800" b="1">
                <a:solidFill>
                  <a:srgbClr val="16243E"/>
                </a:solidFill>
                <a:latin typeface="Yu Gothic UI"/>
              </a:rPr>
              <a:t>● 03  外部環境分析（PEST）</a:t>
            </a:r>
          </a:p>
          <a:p>
            <a:pPr>
              <a:lnSpc>
                <a:spcPct val="108000"/>
              </a:lnSpc>
              <a:spcAft>
                <a:spcPts val="2200"/>
              </a:spcAft>
            </a:pPr>
            <a:r>
              <a:rPr sz="1800" b="1">
                <a:solidFill>
                  <a:srgbClr val="16243E"/>
                </a:solidFill>
                <a:latin typeface="Yu Gothic UI"/>
              </a:rPr>
              <a:t>● 04  市場規模（TAM・SAM・SOM）</a:t>
            </a:r>
          </a:p>
          <a:p>
            <a:pPr>
              <a:lnSpc>
                <a:spcPct val="108000"/>
              </a:lnSpc>
              <a:spcAft>
                <a:spcPts val="2200"/>
              </a:spcAft>
            </a:pPr>
            <a:r>
              <a:rPr sz="1800" b="1">
                <a:solidFill>
                  <a:srgbClr val="16243E"/>
                </a:solidFill>
                <a:latin typeface="Yu Gothic UI"/>
              </a:rPr>
              <a:t>● 05  3C分析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73736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2200"/>
              </a:spcAft>
            </a:pPr>
            <a:r>
              <a:rPr sz="1800" b="1">
                <a:solidFill>
                  <a:srgbClr val="16243E"/>
                </a:solidFill>
                <a:latin typeface="Yu Gothic UI"/>
              </a:rPr>
              <a:t>● 06  SWOT分析</a:t>
            </a:r>
          </a:p>
          <a:p>
            <a:pPr>
              <a:lnSpc>
                <a:spcPct val="108000"/>
              </a:lnSpc>
              <a:spcAft>
                <a:spcPts val="2200"/>
              </a:spcAft>
            </a:pPr>
            <a:r>
              <a:rPr sz="1800" b="1">
                <a:solidFill>
                  <a:srgbClr val="16243E"/>
                </a:solidFill>
                <a:latin typeface="Yu Gothic UI"/>
              </a:rPr>
              <a:t>● 07  競合比較</a:t>
            </a:r>
          </a:p>
          <a:p>
            <a:pPr>
              <a:lnSpc>
                <a:spcPct val="108000"/>
              </a:lnSpc>
              <a:spcAft>
                <a:spcPts val="2200"/>
              </a:spcAft>
            </a:pPr>
            <a:r>
              <a:rPr sz="1800" b="1">
                <a:solidFill>
                  <a:srgbClr val="16243E"/>
                </a:solidFill>
                <a:latin typeface="Yu Gothic UI"/>
              </a:rPr>
              <a:t>● 08  差別化ポイント</a:t>
            </a:r>
          </a:p>
          <a:p>
            <a:pPr>
              <a:lnSpc>
                <a:spcPct val="108000"/>
              </a:lnSpc>
              <a:spcAft>
                <a:spcPts val="2200"/>
              </a:spcAft>
            </a:pPr>
            <a:r>
              <a:rPr sz="1800" b="1">
                <a:solidFill>
                  <a:srgbClr val="16243E"/>
                </a:solidFill>
                <a:latin typeface="Yu Gothic UI"/>
              </a:rPr>
              <a:t>● 09  ビジネスモデル</a:t>
            </a:r>
          </a:p>
          <a:p>
            <a:pPr>
              <a:lnSpc>
                <a:spcPct val="108000"/>
              </a:lnSpc>
              <a:spcAft>
                <a:spcPts val="2200"/>
              </a:spcAft>
            </a:pPr>
            <a:r>
              <a:rPr sz="1800" b="1">
                <a:solidFill>
                  <a:srgbClr val="16243E"/>
                </a:solidFill>
                <a:latin typeface="Yu Gothic UI"/>
              </a:rPr>
              <a:t>● 10  実行ロードマップ／財務計画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E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9E8D"/>
                </a:solidFill>
                <a:latin typeface="Yu Gothic UI"/>
              </a:rPr>
              <a:t>02 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43E"/>
                </a:solidFill>
                <a:latin typeface="Yu Gothic UI"/>
              </a:rPr>
              <a:t>エグゼクティブサマリー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11155680" cy="17780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9AEB6"/>
                </a:solidFill>
                <a:latin typeface="Yu Gothic UI"/>
              </a:rPr>
              <a:t>MeetMemo 事業提案資料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9AEB6"/>
                </a:solidFill>
                <a:latin typeface="Yu Gothic UI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08760"/>
            <a:ext cx="2697480" cy="196596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E05D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508760"/>
            <a:ext cx="2697480" cy="384048"/>
          </a:xfrm>
          <a:prstGeom prst="rect">
            <a:avLst/>
          </a:prstGeom>
          <a:solidFill>
            <a:srgbClr val="E0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Yu Gothic UI"/>
              </a:rPr>
              <a:t>課題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57400"/>
            <a:ext cx="2423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333840"/>
                </a:solidFill>
                <a:latin typeface="Yu Gothic UI"/>
              </a:rPr>
              <a:t>議事録作成に年間約320時間。負担感67%に対し</a:t>
            </a:r>
          </a:p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333840"/>
                </a:solidFill>
                <a:latin typeface="Yu Gothic UI"/>
              </a:rPr>
              <a:t>DX進捗はわずか1.4%というギャップ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1508760"/>
            <a:ext cx="2697480" cy="196596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9E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37560" y="1508760"/>
            <a:ext cx="2697480" cy="384048"/>
          </a:xfrm>
          <a:prstGeom prst="rect">
            <a:avLst/>
          </a:prstGeom>
          <a:solidFill>
            <a:srgbClr val="009E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Yu Gothic UI"/>
              </a:rPr>
              <a:t>解決策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057400"/>
            <a:ext cx="2423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333840"/>
                </a:solidFill>
                <a:latin typeface="Yu Gothic UI"/>
              </a:rPr>
              <a:t>録音→AI議事録化→タスク自動抽出→</a:t>
            </a:r>
          </a:p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333840"/>
                </a:solidFill>
                <a:latin typeface="Yu Gothic UI"/>
              </a:rPr>
              <a:t>担当者へ自動通知を一気通貫で提供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508760"/>
            <a:ext cx="2697480" cy="196596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E8A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508760"/>
            <a:ext cx="2697480" cy="384048"/>
          </a:xfrm>
          <a:prstGeom prst="rect">
            <a:avLst/>
          </a:prstGeom>
          <a:solidFill>
            <a:srgbClr val="E8A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Yu Gothic UI"/>
              </a:rPr>
              <a:t>市場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057400"/>
            <a:ext cx="2423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333840"/>
                </a:solidFill>
                <a:latin typeface="Yu Gothic UI"/>
              </a:rPr>
              <a:t>TAM 約1,030億円 ／ SAM 約400億円</a:t>
            </a:r>
          </a:p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333840"/>
                </a:solidFill>
                <a:latin typeface="Yu Gothic UI"/>
              </a:rPr>
              <a:t>SOM 約6億円ARR（3〜5年後目標）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1508760"/>
            <a:ext cx="2697480" cy="196596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243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06840" y="1508760"/>
            <a:ext cx="2697480" cy="384048"/>
          </a:xfrm>
          <a:prstGeom prst="rect">
            <a:avLst/>
          </a:prstGeom>
          <a:solidFill>
            <a:srgbClr val="24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Yu Gothic UI"/>
              </a:rPr>
              <a:t>収益モデル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2057400"/>
            <a:ext cx="2423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333840"/>
                </a:solidFill>
                <a:latin typeface="Yu Gothic UI"/>
              </a:rPr>
              <a:t>月額3,000円／ユーザーの定額課金</a:t>
            </a:r>
          </a:p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333840"/>
                </a:solidFill>
                <a:latin typeface="Yu Gothic UI"/>
              </a:rPr>
              <a:t>中小企業向けの低価格・シンプル設計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79476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243E"/>
                </a:solidFill>
                <a:latin typeface="Yu Gothic UI"/>
              </a:rPr>
              <a:t>MeetMemoが狙うポジション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160520"/>
            <a:ext cx="111556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 b="1">
                <a:solidFill>
                  <a:srgbClr val="009E8D"/>
                </a:solidFill>
                <a:latin typeface="Yu Gothic UI"/>
              </a:rPr>
              <a:t>● Notta・Otter.ai・LINE WORKS AiNote等の既存競合は「文字起こし・要約」が中心で、タスクの自動アサイン・担当者通知は弱い／非対応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 b="1">
                <a:solidFill>
                  <a:srgbClr val="009E8D"/>
                </a:solidFill>
                <a:latin typeface="Yu Gothic UI"/>
              </a:rPr>
              <a:t>● 従業員50名以下の中小企業に特化し、人手不足下での「タスクの抜け漏れ防止」という実行支援価値を訴求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 b="1">
                <a:solidFill>
                  <a:srgbClr val="009E8D"/>
                </a:solidFill>
                <a:latin typeface="Yu Gothic UI"/>
              </a:rPr>
              <a:t>● デジタル化・AI導入補助金2026の活用や低価格設計により、中小企業のIT予算制約を乗り越えて導入障壁を下げる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 b="1">
                <a:solidFill>
                  <a:srgbClr val="009E8D"/>
                </a:solidFill>
                <a:latin typeface="Yu Gothic UI"/>
              </a:rPr>
              <a:t>● 初年度150社→3年目1,800社を目標に、Year3で単年度黒字化（ARR約2.5億円）を計画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E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9E8D"/>
                </a:solidFill>
                <a:latin typeface="Yu Gothic UI"/>
              </a:rPr>
              <a:t>03 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43E"/>
                </a:solidFill>
                <a:latin typeface="Yu Gothic UI"/>
              </a:rPr>
              <a:t>課題：議事録作成とタスク管理の負担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11155680" cy="17780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9AEB6"/>
                </a:solidFill>
                <a:latin typeface="Yu Gothic UI"/>
              </a:rPr>
              <a:t>MeetMemo 事業提案資料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9AEB6"/>
                </a:solidFill>
                <a:latin typeface="Yu Gothic UI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08760"/>
            <a:ext cx="2606040" cy="1600200"/>
          </a:xfrm>
          <a:prstGeom prst="roundRect">
            <a:avLst/>
          </a:prstGeom>
          <a:solidFill>
            <a:srgbClr val="16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627632"/>
            <a:ext cx="2606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8A02E"/>
                </a:solidFill>
                <a:latin typeface="Yu Gothic UI"/>
              </a:rPr>
              <a:t>約320時間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31720"/>
            <a:ext cx="2331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D7DFEA"/>
                </a:solidFill>
                <a:latin typeface="Yu Gothic UI"/>
              </a:rPr>
              <a:t>議事録作成に費やす</a:t>
            </a:r>
          </a:p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D7DFEA"/>
                </a:solidFill>
                <a:latin typeface="Yu Gothic UI"/>
              </a:rPr>
              <a:t>年間平均時間／人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1508760"/>
            <a:ext cx="2606040" cy="1600200"/>
          </a:xfrm>
          <a:prstGeom prst="roundRect">
            <a:avLst/>
          </a:prstGeom>
          <a:solidFill>
            <a:srgbClr val="16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1627632"/>
            <a:ext cx="2606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Yu Gothic UI"/>
              </a:rPr>
              <a:t>67%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331720"/>
            <a:ext cx="2331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D7DFEA"/>
                </a:solidFill>
                <a:latin typeface="Yu Gothic UI"/>
              </a:rPr>
              <a:t>議事録作成に</a:t>
            </a:r>
          </a:p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D7DFEA"/>
                </a:solidFill>
                <a:latin typeface="Yu Gothic UI"/>
              </a:rPr>
              <a:t>負担を感じている割合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0760" y="1508760"/>
            <a:ext cx="2606040" cy="1600200"/>
          </a:xfrm>
          <a:prstGeom prst="roundRect">
            <a:avLst/>
          </a:prstGeom>
          <a:solidFill>
            <a:srgbClr val="16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0760" y="1627632"/>
            <a:ext cx="2606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Yu Gothic UI"/>
              </a:rPr>
              <a:t>70%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331720"/>
            <a:ext cx="2331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D7DFEA"/>
                </a:solidFill>
                <a:latin typeface="Yu Gothic UI"/>
              </a:rPr>
              <a:t>AIサポートツールの</a:t>
            </a:r>
          </a:p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D7DFEA"/>
                </a:solidFill>
                <a:latin typeface="Yu Gothic UI"/>
              </a:rPr>
              <a:t>活用を希望する割合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69680" y="1508760"/>
            <a:ext cx="2606040" cy="1600200"/>
          </a:xfrm>
          <a:prstGeom prst="roundRect">
            <a:avLst/>
          </a:prstGeom>
          <a:solidFill>
            <a:srgbClr val="16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0" y="1627632"/>
            <a:ext cx="2606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8A02E"/>
                </a:solidFill>
                <a:latin typeface="Yu Gothic UI"/>
              </a:rPr>
              <a:t>1.4%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2331720"/>
            <a:ext cx="2331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D7DFEA"/>
                </a:solidFill>
                <a:latin typeface="Yu Gothic UI"/>
              </a:rPr>
              <a:t>実際にDXが進んでいる</a:t>
            </a:r>
          </a:p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D7DFEA"/>
                </a:solidFill>
                <a:latin typeface="Yu Gothic UI"/>
              </a:rPr>
              <a:t>現場の割合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429000"/>
            <a:ext cx="11155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450" b="1">
                <a:solidFill>
                  <a:srgbClr val="E05D5D"/>
                </a:solidFill>
                <a:latin typeface="Yu Gothic UI"/>
              </a:rPr>
              <a:t>● 60〜90分の会議1本の議事録化に2〜3時間、長いケースでは1日がかりという回答も複数存在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450" b="1">
                <a:solidFill>
                  <a:srgbClr val="E05D5D"/>
                </a:solidFill>
                <a:latin typeface="Yu Gothic UI"/>
              </a:rPr>
              <a:t>● 中小企業は人手不足が深刻（正社員の人手不足感50.6%、2026年4月時点）で、少人数で会議運営から実行フォローまでを担う必要がある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450" b="1">
                <a:solidFill>
                  <a:srgbClr val="E05D5D"/>
                </a:solidFill>
                <a:latin typeface="Yu Gothic UI"/>
              </a:rPr>
              <a:t>● AI議事録ツール自体の利用率は63.3%まで進んでいるが、「特定の会議でしか使わない」限定利用が6割超という指摘があり、文字起こし・要約の先＝タスク実行支援が手つかずのまま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450" b="1">
                <a:solidFill>
                  <a:srgbClr val="E05D5D"/>
                </a:solidFill>
                <a:latin typeface="Yu Gothic UI"/>
              </a:rPr>
              <a:t>● → 「言った・言わない」「やる予定を忘れていた」といったタスクの抜け漏れが、限られた人員体制の中小企業にとって経営リスクになっている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E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9E8D"/>
                </a:solidFill>
                <a:latin typeface="Yu Gothic UI"/>
              </a:rPr>
              <a:t>04 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43E"/>
                </a:solidFill>
                <a:latin typeface="Yu Gothic UI"/>
              </a:rPr>
              <a:t>解決策：議事録化からタスク通知までを一気通貫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11155680" cy="17780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9AEB6"/>
                </a:solidFill>
                <a:latin typeface="Yu Gothic UI"/>
              </a:rPr>
              <a:t>MeetMemo 事業提案資料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9AEB6"/>
                </a:solidFill>
                <a:latin typeface="Yu Gothic UI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28800"/>
            <a:ext cx="2514600" cy="237744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9E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67612" y="2057400"/>
            <a:ext cx="585216" cy="585216"/>
          </a:xfrm>
          <a:prstGeom prst="ellipse">
            <a:avLst/>
          </a:prstGeom>
          <a:solidFill>
            <a:srgbClr val="009E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Yu Gothic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8892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16243E"/>
                </a:solidFill>
                <a:latin typeface="Yu Gothic UI"/>
              </a:rPr>
              <a:t>自動録音・</a:t>
            </a:r>
          </a:p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16243E"/>
                </a:solidFill>
                <a:latin typeface="Yu Gothic UI"/>
              </a:rPr>
              <a:t>文字起こし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383280"/>
            <a:ext cx="2240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4A4F58"/>
                </a:solidFill>
                <a:latin typeface="Yu Gothic UI"/>
              </a:rPr>
              <a:t>Zoom/Teams/Google Meet等の</a:t>
            </a:r>
          </a:p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4A4F58"/>
                </a:solidFill>
                <a:latin typeface="Yu Gothic UI"/>
              </a:rPr>
              <a:t>会議音声をAIが自動録音・文字起こし</a:t>
            </a:r>
          </a:p>
        </p:txBody>
      </p:sp>
      <p:sp>
        <p:nvSpPr>
          <p:cNvPr id="13" name="Chevron 12"/>
          <p:cNvSpPr/>
          <p:nvPr/>
        </p:nvSpPr>
        <p:spPr>
          <a:xfrm>
            <a:off x="3044952" y="2697480"/>
            <a:ext cx="274320" cy="457200"/>
          </a:xfrm>
          <a:prstGeom prst="chevron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37560" y="1828800"/>
            <a:ext cx="2514600" cy="237744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9E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02252" y="2057400"/>
            <a:ext cx="585216" cy="585216"/>
          </a:xfrm>
          <a:prstGeom prst="ellipse">
            <a:avLst/>
          </a:prstGeom>
          <a:solidFill>
            <a:srgbClr val="009E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Yu Gothic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278892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16243E"/>
                </a:solidFill>
                <a:latin typeface="Yu Gothic UI"/>
              </a:rPr>
              <a:t>AI議事録化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3383280"/>
            <a:ext cx="2240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4A4F58"/>
                </a:solidFill>
                <a:latin typeface="Yu Gothic UI"/>
              </a:rPr>
              <a:t>発言内容を要約し、決定事項・</a:t>
            </a:r>
          </a:p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4A4F58"/>
                </a:solidFill>
                <a:latin typeface="Yu Gothic UI"/>
              </a:rPr>
              <a:t>論点を整理した議事録を自動生成</a:t>
            </a:r>
          </a:p>
        </p:txBody>
      </p:sp>
      <p:sp>
        <p:nvSpPr>
          <p:cNvPr id="18" name="Chevron 17"/>
          <p:cNvSpPr/>
          <p:nvPr/>
        </p:nvSpPr>
        <p:spPr>
          <a:xfrm>
            <a:off x="5879592" y="2697480"/>
            <a:ext cx="274320" cy="457200"/>
          </a:xfrm>
          <a:prstGeom prst="chevron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72200" y="1828800"/>
            <a:ext cx="2514600" cy="237744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E8A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136892" y="2057400"/>
            <a:ext cx="585216" cy="585216"/>
          </a:xfrm>
          <a:prstGeom prst="ellipse">
            <a:avLst/>
          </a:prstGeom>
          <a:solidFill>
            <a:srgbClr val="E8A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Yu Gothic U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278892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16243E"/>
                </a:solidFill>
                <a:latin typeface="Yu Gothic UI"/>
              </a:rPr>
              <a:t>タスク自動抽出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383280"/>
            <a:ext cx="2240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4A4F58"/>
                </a:solidFill>
                <a:latin typeface="Yu Gothic UI"/>
              </a:rPr>
              <a:t>「誰が・何を・いつまでに」を</a:t>
            </a:r>
          </a:p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4A4F58"/>
                </a:solidFill>
                <a:latin typeface="Yu Gothic UI"/>
              </a:rPr>
              <a:t>AIが会議中の発言から自動抽出</a:t>
            </a:r>
          </a:p>
        </p:txBody>
      </p:sp>
      <p:sp>
        <p:nvSpPr>
          <p:cNvPr id="23" name="Chevron 22"/>
          <p:cNvSpPr/>
          <p:nvPr/>
        </p:nvSpPr>
        <p:spPr>
          <a:xfrm>
            <a:off x="8714232" y="2697480"/>
            <a:ext cx="274320" cy="457200"/>
          </a:xfrm>
          <a:prstGeom prst="chevron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006840" y="1828800"/>
            <a:ext cx="2514600" cy="237744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E05D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971532" y="2057400"/>
            <a:ext cx="585216" cy="585216"/>
          </a:xfrm>
          <a:prstGeom prst="ellipse">
            <a:avLst/>
          </a:prstGeom>
          <a:solidFill>
            <a:srgbClr val="E0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Yu Gothic U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278892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16243E"/>
                </a:solidFill>
                <a:latin typeface="Yu Gothic UI"/>
              </a:rPr>
              <a:t>担当者へ自動通知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3383280"/>
            <a:ext cx="2240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4A4F58"/>
                </a:solidFill>
                <a:latin typeface="Yu Gothic UI"/>
              </a:rPr>
              <a:t>Slack／メール等で担当者本人に</a:t>
            </a:r>
          </a:p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4A4F58"/>
                </a:solidFill>
                <a:latin typeface="Yu Gothic UI"/>
              </a:rPr>
              <a:t>即時通知し、期日リマインドも自動化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709160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16243E"/>
                </a:solidFill>
                <a:latin typeface="Yu Gothic UI"/>
              </a:rPr>
              <a:t>議事録作成の工数削減だけでなく、「タスクの抜け漏れ」を防ぎ、限られた人員での実行力を底上げする。</a:t>
            </a:r>
          </a:p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16243E"/>
                </a:solidFill>
                <a:latin typeface="Yu Gothic UI"/>
              </a:rPr>
              <a:t>既存の文字起こし・要約ツールが手をつけていない「会議後の実行支援」を提供価値の中心に据える。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E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9E8D"/>
                </a:solidFill>
                <a:latin typeface="Yu Gothic UI"/>
              </a:rPr>
              <a:t>05  PEST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43E"/>
                </a:solidFill>
                <a:latin typeface="Yu Gothic UI"/>
              </a:rPr>
              <a:t>外部環境分析（PEST分析）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11155680" cy="17780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9AEB6"/>
                </a:solidFill>
                <a:latin typeface="Yu Gothic UI"/>
              </a:rPr>
              <a:t>MeetMemo 事業提案資料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9AEB6"/>
                </a:solidFill>
                <a:latin typeface="Yu Gothic UI"/>
              </a:rP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08760"/>
            <a:ext cx="5440680" cy="2148840"/>
          </a:xfrm>
          <a:prstGeom prst="roundRect">
            <a:avLst/>
          </a:prstGeom>
          <a:solidFill>
            <a:srgbClr val="F5F7FA"/>
          </a:solidFill>
          <a:ln w="15875">
            <a:solidFill>
              <a:srgbClr val="009E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508760"/>
            <a:ext cx="5440680" cy="384048"/>
          </a:xfrm>
          <a:prstGeom prst="rect">
            <a:avLst/>
          </a:prstGeom>
          <a:solidFill>
            <a:srgbClr val="009E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 b="1">
                <a:solidFill>
                  <a:srgbClr val="FFFFFF"/>
                </a:solidFill>
                <a:latin typeface="Yu Gothic UI"/>
              </a:rPr>
              <a:t>  Political｜政治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11680"/>
            <a:ext cx="5074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200" b="1">
                <a:solidFill>
                  <a:srgbClr val="009E8D"/>
                </a:solidFill>
                <a:latin typeface="Yu Gothic UI"/>
              </a:rPr>
              <a:t>● 「デジタル化・AI導入補助金2026」で導入費用を最大1/2補助（上限450万円）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200" b="1">
                <a:solidFill>
                  <a:srgbClr val="009E8D"/>
                </a:solidFill>
                <a:latin typeface="Yu Gothic UI"/>
              </a:rPr>
              <a:t>● 2026年4月、個人情報保護法改正案を閣議決定（課徴金制度の導入等）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508760"/>
            <a:ext cx="5440680" cy="2148840"/>
          </a:xfrm>
          <a:prstGeom prst="roundRect">
            <a:avLst/>
          </a:prstGeom>
          <a:solidFill>
            <a:srgbClr val="F5F7FA"/>
          </a:solidFill>
          <a:ln w="15875">
            <a:solidFill>
              <a:srgbClr val="E8A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508760"/>
            <a:ext cx="5440680" cy="384048"/>
          </a:xfrm>
          <a:prstGeom prst="rect">
            <a:avLst/>
          </a:prstGeom>
          <a:solidFill>
            <a:srgbClr val="E8A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 b="1">
                <a:solidFill>
                  <a:srgbClr val="FFFFFF"/>
                </a:solidFill>
                <a:latin typeface="Yu Gothic UI"/>
              </a:rPr>
              <a:t>  Economic｜経済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011680"/>
            <a:ext cx="5074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200" b="1">
                <a:solidFill>
                  <a:srgbClr val="E8A02E"/>
                </a:solidFill>
                <a:latin typeface="Yu Gothic UI"/>
              </a:rPr>
              <a:t>● 人手不足倒産441件（2025年度、3年連続過去最多）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200" b="1">
                <a:solidFill>
                  <a:srgbClr val="E8A02E"/>
                </a:solidFill>
                <a:latin typeface="Yu Gothic UI"/>
              </a:rPr>
              <a:t>● DX予算確保の難しさが課題の24.9〜26.2%、特に20人以下企業は「何から始めるか分からない」が最多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794760"/>
            <a:ext cx="5440680" cy="2148840"/>
          </a:xfrm>
          <a:prstGeom prst="roundRect">
            <a:avLst/>
          </a:prstGeom>
          <a:solidFill>
            <a:srgbClr val="F5F7FA"/>
          </a:solidFill>
          <a:ln w="15875">
            <a:solidFill>
              <a:srgbClr val="E05D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794760"/>
            <a:ext cx="5440680" cy="384048"/>
          </a:xfrm>
          <a:prstGeom prst="rect">
            <a:avLst/>
          </a:prstGeom>
          <a:solidFill>
            <a:srgbClr val="E0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 b="1">
                <a:solidFill>
                  <a:srgbClr val="FFFFFF"/>
                </a:solidFill>
                <a:latin typeface="Yu Gothic UI"/>
              </a:rPr>
              <a:t>  Social｜社会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97680"/>
            <a:ext cx="5074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200" b="1">
                <a:solidFill>
                  <a:srgbClr val="E05D5D"/>
                </a:solidFill>
                <a:latin typeface="Yu Gothic UI"/>
              </a:rPr>
              <a:t>● 雇用型テレワーカー比率26.0%でハイブリッドワークが定着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200" b="1">
                <a:solidFill>
                  <a:srgbClr val="E05D5D"/>
                </a:solidFill>
                <a:latin typeface="Yu Gothic UI"/>
              </a:rPr>
              <a:t>● 議事録DX進捗はわずか1.4%と、大きな未開拓領域が残存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794760"/>
            <a:ext cx="5440680" cy="2148840"/>
          </a:xfrm>
          <a:prstGeom prst="roundRect">
            <a:avLst/>
          </a:prstGeom>
          <a:solidFill>
            <a:srgbClr val="F5F7FA"/>
          </a:solidFill>
          <a:ln w="15875">
            <a:solidFill>
              <a:srgbClr val="243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3794760"/>
            <a:ext cx="5440680" cy="384048"/>
          </a:xfrm>
          <a:prstGeom prst="rect">
            <a:avLst/>
          </a:prstGeom>
          <a:solidFill>
            <a:srgbClr val="24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 b="1">
                <a:solidFill>
                  <a:srgbClr val="FFFFFF"/>
                </a:solidFill>
                <a:latin typeface="Yu Gothic UI"/>
              </a:rPr>
              <a:t>  Technological｜技術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4297680"/>
            <a:ext cx="5074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200" b="1">
                <a:solidFill>
                  <a:srgbClr val="243B63"/>
                </a:solidFill>
                <a:latin typeface="Yu Gothic UI"/>
              </a:rPr>
              <a:t>● LLMの軽量化・低コスト化（MoE等）が進み、推論コストを抑えた高精度化が進展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200" b="1">
                <a:solidFill>
                  <a:srgbClr val="243B63"/>
                </a:solidFill>
                <a:latin typeface="Yu Gothic UI"/>
              </a:rPr>
              <a:t>● Slack/Teams等との通知API連携が一般化し、実装障壁が低下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E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9E8D"/>
                </a:solidFill>
                <a:latin typeface="Yu Gothic UI"/>
              </a:rPr>
              <a:t>06  MARKET SIZE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43E"/>
                </a:solidFill>
                <a:latin typeface="Yu Gothic UI"/>
              </a:rPr>
              <a:t>市場規模（TAM・SAM・SOM）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11155680" cy="17780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9AEB6"/>
                </a:solidFill>
                <a:latin typeface="Yu Gothic UI"/>
              </a:rPr>
              <a:t>MeetMemo 事業提案資料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9AEB6"/>
                </a:solidFill>
                <a:latin typeface="Yu Gothic UI"/>
              </a:rPr>
              <a:t>6</a:t>
            </a:r>
          </a:p>
        </p:txBody>
      </p:sp>
      <p:sp>
        <p:nvSpPr>
          <p:cNvPr id="9" name="Rectangle 8"/>
          <p:cNvSpPr/>
          <p:nvPr/>
        </p:nvSpPr>
        <p:spPr>
          <a:xfrm>
            <a:off x="1706727" y="1508760"/>
            <a:ext cx="8778240" cy="960120"/>
          </a:xfrm>
          <a:prstGeom prst="rect">
            <a:avLst/>
          </a:prstGeom>
          <a:solidFill>
            <a:srgbClr val="009E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FFFFFF"/>
                </a:solidFill>
                <a:latin typeface="Yu Gothic UI"/>
              </a:rPr>
              <a:t>TAM　約1,030億円</a:t>
            </a:r>
          </a:p>
          <a:p>
            <a:pPr algn="ctr"/>
            <a:r>
              <a:rPr sz="1150">
                <a:solidFill>
                  <a:srgbClr val="FFFFFF"/>
                </a:solidFill>
                <a:latin typeface="Yu Gothic UI"/>
              </a:rPr>
              <a:t>Web会議を利用する国内全企業（約172万社）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78327" y="2606039"/>
            <a:ext cx="6035040" cy="960120"/>
          </a:xfrm>
          <a:prstGeom prst="rect">
            <a:avLst/>
          </a:prstGeom>
          <a:solidFill>
            <a:srgbClr val="E8A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FFFFFF"/>
                </a:solidFill>
                <a:latin typeface="Yu Gothic UI"/>
              </a:rPr>
              <a:t>SAM　約400億円</a:t>
            </a:r>
          </a:p>
          <a:p>
            <a:pPr algn="ctr"/>
            <a:r>
              <a:rPr sz="1150">
                <a:solidFill>
                  <a:srgbClr val="FFFFFF"/>
                </a:solidFill>
                <a:latin typeface="Yu Gothic UI"/>
              </a:rPr>
              <a:t>IT投資意欲のある中堅・中小企業（約67万社）</a:t>
            </a:r>
          </a:p>
        </p:txBody>
      </p:sp>
      <p:sp>
        <p:nvSpPr>
          <p:cNvPr id="11" name="Trapezoid 10"/>
          <p:cNvSpPr/>
          <p:nvPr/>
        </p:nvSpPr>
        <p:spPr>
          <a:xfrm>
            <a:off x="4449927" y="3703320"/>
            <a:ext cx="3291840" cy="960120"/>
          </a:xfrm>
          <a:prstGeom prst="trapezoid">
            <a:avLst/>
          </a:prstGeom>
          <a:solidFill>
            <a:srgbClr val="E0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FFFFFF"/>
                </a:solidFill>
                <a:latin typeface="Yu Gothic UI"/>
              </a:rPr>
              <a:t>SOM　約6億円（3〜5年後ARR目標）</a:t>
            </a:r>
          </a:p>
          <a:p>
            <a:pPr algn="ctr"/>
            <a:r>
              <a:rPr sz="1150">
                <a:solidFill>
                  <a:srgbClr val="FFFFFF"/>
                </a:solidFill>
                <a:latin typeface="Yu Gothic UI"/>
              </a:rPr>
              <a:t>現実的に獲得可能なシェア（約1万社）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89204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243E"/>
                </a:solidFill>
                <a:latin typeface="Yu Gothic UI"/>
              </a:rPr>
              <a:t>市場の成長トレンド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257800"/>
            <a:ext cx="11155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1">
                <a:solidFill>
                  <a:srgbClr val="009E8D"/>
                </a:solidFill>
                <a:latin typeface="Yu Gothic UI"/>
              </a:rPr>
              <a:t>● 国内音声認識市場：2023年度に前年度比21.0%増の約150億円（ITR）、2025年度に約244億円へ（矢野経済研究所、CAGR16.4%）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1">
                <a:solidFill>
                  <a:srgbClr val="009E8D"/>
                </a:solidFill>
                <a:latin typeface="Yu Gothic UI"/>
              </a:rPr>
              <a:t>● 国内生成AI市場：2024年の約1,016億円から2028年に約8,028億円へ約8倍に拡大予測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1">
                <a:solidFill>
                  <a:srgbClr val="009E8D"/>
                </a:solidFill>
                <a:latin typeface="Yu Gothic UI"/>
              </a:rPr>
              <a:t>● グローバルAI Meeting Assistant市場：CAGR25.8%で2025年約34.7億ドル→2033年約214.8億ドルへ拡大予測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E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9E8D"/>
                </a:solidFill>
                <a:latin typeface="Yu Gothic UI"/>
              </a:rPr>
              <a:t>07  3C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43E"/>
                </a:solidFill>
                <a:latin typeface="Yu Gothic UI"/>
              </a:rPr>
              <a:t>3C分析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11155680" cy="17780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9AEB6"/>
                </a:solidFill>
                <a:latin typeface="Yu Gothic UI"/>
              </a:rPr>
              <a:t>MeetMemo 事業提案資料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9AEB6"/>
                </a:solidFill>
                <a:latin typeface="Yu Gothic UI"/>
              </a:rPr>
              <a:t>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08760"/>
            <a:ext cx="3611880" cy="4480560"/>
          </a:xfrm>
          <a:prstGeom prst="roundRect">
            <a:avLst/>
          </a:prstGeom>
          <a:solidFill>
            <a:srgbClr val="F5F7FA"/>
          </a:solidFill>
          <a:ln w="15875">
            <a:solidFill>
              <a:srgbClr val="009E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508760"/>
            <a:ext cx="3611880" cy="502920"/>
          </a:xfrm>
          <a:prstGeom prst="rect">
            <a:avLst/>
          </a:prstGeom>
          <a:solidFill>
            <a:srgbClr val="009E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50" b="1">
                <a:solidFill>
                  <a:srgbClr val="FFFFFF"/>
                </a:solidFill>
                <a:latin typeface="Yu Gothic UI"/>
              </a:rPr>
              <a:t>Customer｜市場・顧客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48840"/>
            <a:ext cx="32461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250" b="1">
                <a:solidFill>
                  <a:srgbClr val="009E8D"/>
                </a:solidFill>
                <a:latin typeface="Yu Gothic UI"/>
              </a:rPr>
              <a:t>● 従業員50名以下の中小企業（国内336.5万社、Web会議導入率51.0%）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250" b="1">
                <a:solidFill>
                  <a:srgbClr val="009E8D"/>
                </a:solidFill>
                <a:latin typeface="Yu Gothic UI"/>
              </a:rPr>
              <a:t>● 議事録の負担感67%・DX進捗1.4%という大きなギャップ層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250" b="1">
                <a:solidFill>
                  <a:srgbClr val="009E8D"/>
                </a:solidFill>
                <a:latin typeface="Yu Gothic UI"/>
              </a:rPr>
              <a:t>● 人手不足＋予算制約から、低価格・低学習コストのツールへの受容性が高い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508760"/>
            <a:ext cx="3611880" cy="4480560"/>
          </a:xfrm>
          <a:prstGeom prst="roundRect">
            <a:avLst/>
          </a:prstGeom>
          <a:solidFill>
            <a:srgbClr val="F5F7FA"/>
          </a:solidFill>
          <a:ln w="15875">
            <a:solidFill>
              <a:srgbClr val="E05D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508760"/>
            <a:ext cx="3611880" cy="502920"/>
          </a:xfrm>
          <a:prstGeom prst="rect">
            <a:avLst/>
          </a:prstGeom>
          <a:solidFill>
            <a:srgbClr val="E0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50" b="1">
                <a:solidFill>
                  <a:srgbClr val="FFFFFF"/>
                </a:solidFill>
                <a:latin typeface="Yu Gothic UI"/>
              </a:rPr>
              <a:t>Competitor｜競合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148840"/>
            <a:ext cx="32461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250" b="1">
                <a:solidFill>
                  <a:srgbClr val="E05D5D"/>
                </a:solidFill>
                <a:latin typeface="Yu Gothic UI"/>
              </a:rPr>
              <a:t>● Notta・Otter.ai・LINE WORKS AiNoteはいずれも文字起こし・要約が中心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250" b="1">
                <a:solidFill>
                  <a:srgbClr val="E05D5D"/>
                </a:solidFill>
                <a:latin typeface="Yu Gothic UI"/>
              </a:rPr>
              <a:t>● Fireflies.aiは公式に「タスク自動アサイン・リマインド手段がない」と明言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250" b="1">
                <a:solidFill>
                  <a:srgbClr val="E05D5D"/>
                </a:solidFill>
                <a:latin typeface="Yu Gothic UI"/>
              </a:rPr>
              <a:t>● Zoom／Teams等大手プラットフォームのAI要約標準搭載も間接競合化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508760"/>
            <a:ext cx="3611880" cy="4480560"/>
          </a:xfrm>
          <a:prstGeom prst="roundRect">
            <a:avLst/>
          </a:prstGeom>
          <a:solidFill>
            <a:srgbClr val="F5F7FA"/>
          </a:solidFill>
          <a:ln w="15875">
            <a:solidFill>
              <a:srgbClr val="243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508760"/>
            <a:ext cx="3611880" cy="502920"/>
          </a:xfrm>
          <a:prstGeom prst="rect">
            <a:avLst/>
          </a:prstGeom>
          <a:solidFill>
            <a:srgbClr val="24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50" b="1">
                <a:solidFill>
                  <a:srgbClr val="FFFFFF"/>
                </a:solidFill>
                <a:latin typeface="Yu Gothic UI"/>
              </a:rPr>
              <a:t>Company｜自社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148840"/>
            <a:ext cx="32461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250" b="1">
                <a:solidFill>
                  <a:srgbClr val="243B63"/>
                </a:solidFill>
                <a:latin typeface="Yu Gothic UI"/>
              </a:rPr>
              <a:t>● 議事録化＋タスク自動抽出＋担当者通知を一気通貫で提供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250" b="1">
                <a:solidFill>
                  <a:srgbClr val="243B63"/>
                </a:solidFill>
                <a:latin typeface="Yu Gothic UI"/>
              </a:rPr>
              <a:t>● 従業員50名以下に特化したシンプル・低価格設計（3,000円/ユーザー/月）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250" b="1">
                <a:solidFill>
                  <a:srgbClr val="243B63"/>
                </a:solidFill>
                <a:latin typeface="Yu Gothic UI"/>
              </a:rPr>
              <a:t>● 補助金対象ツール登録によりさらに価格競争力を強化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E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9E8D"/>
                </a:solidFill>
                <a:latin typeface="Yu Gothic UI"/>
              </a:rPr>
              <a:t>08  SWOT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43E"/>
                </a:solidFill>
                <a:latin typeface="Yu Gothic UI"/>
              </a:rPr>
              <a:t>SWOT分析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11155680" cy="17780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9AEB6"/>
                </a:solidFill>
                <a:latin typeface="Yu Gothic UI"/>
              </a:rPr>
              <a:t>MeetMemo 事業提案資料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9AEB6"/>
                </a:solidFill>
                <a:latin typeface="Yu Gothic UI"/>
              </a:rPr>
              <a:t>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08760"/>
            <a:ext cx="5440680" cy="2286000"/>
          </a:xfrm>
          <a:prstGeom prst="roundRect">
            <a:avLst/>
          </a:prstGeom>
          <a:solidFill>
            <a:srgbClr val="F5F7FA"/>
          </a:solidFill>
          <a:ln w="15875">
            <a:solidFill>
              <a:srgbClr val="009E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508760"/>
            <a:ext cx="5440680" cy="365760"/>
          </a:xfrm>
          <a:prstGeom prst="rect">
            <a:avLst/>
          </a:prstGeom>
          <a:solidFill>
            <a:srgbClr val="009E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50" b="1">
                <a:solidFill>
                  <a:srgbClr val="FFFFFF"/>
                </a:solidFill>
                <a:latin typeface="Yu Gothic UI"/>
              </a:rPr>
              <a:t>  Strengths｜強み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984248"/>
            <a:ext cx="50749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00" b="1">
                <a:solidFill>
                  <a:srgbClr val="009E8D"/>
                </a:solidFill>
                <a:latin typeface="Yu Gothic UI"/>
              </a:rPr>
              <a:t>● タスク自動抽出＋担当者通知の一気通貫提供（競合の空白地帯）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00" b="1">
                <a:solidFill>
                  <a:srgbClr val="009E8D"/>
                </a:solidFill>
                <a:latin typeface="Yu Gothic UI"/>
              </a:rPr>
              <a:t>● 50名以下企業に特化したシンプルUI・低価格設計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00" b="1">
                <a:solidFill>
                  <a:srgbClr val="009E8D"/>
                </a:solidFill>
                <a:latin typeface="Yu Gothic UI"/>
              </a:rPr>
              <a:t>● 後発ゆえ最新の低コストLLM／音声認識を前提に開発可能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508760"/>
            <a:ext cx="5440680" cy="2286000"/>
          </a:xfrm>
          <a:prstGeom prst="roundRect">
            <a:avLst/>
          </a:prstGeom>
          <a:solidFill>
            <a:srgbClr val="F5F7FA"/>
          </a:solidFill>
          <a:ln w="15875">
            <a:solidFill>
              <a:srgbClr val="E05D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508760"/>
            <a:ext cx="5440680" cy="365760"/>
          </a:xfrm>
          <a:prstGeom prst="rect">
            <a:avLst/>
          </a:prstGeom>
          <a:solidFill>
            <a:srgbClr val="E0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50" b="1">
                <a:solidFill>
                  <a:srgbClr val="FFFFFF"/>
                </a:solidFill>
                <a:latin typeface="Yu Gothic UI"/>
              </a:rPr>
              <a:t>  Weaknesses｜弱み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984248"/>
            <a:ext cx="50749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00" b="1">
                <a:solidFill>
                  <a:srgbClr val="E05D5D"/>
                </a:solidFill>
                <a:latin typeface="Yu Gothic UI"/>
              </a:rPr>
              <a:t>● 新規参入のためブランド認知・導入実績が不足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00" b="1">
                <a:solidFill>
                  <a:srgbClr val="E05D5D"/>
                </a:solidFill>
                <a:latin typeface="Yu Gothic UI"/>
              </a:rPr>
              <a:t>● 資金力・開発リソースで先行競合に劣る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00" b="1">
                <a:solidFill>
                  <a:srgbClr val="E05D5D"/>
                </a:solidFill>
                <a:latin typeface="Yu Gothic UI"/>
              </a:rPr>
              <a:t>● 音声認識精度・誤タスク抽出対策など作り込みがこれから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931920"/>
            <a:ext cx="5440680" cy="2286000"/>
          </a:xfrm>
          <a:prstGeom prst="roundRect">
            <a:avLst/>
          </a:prstGeom>
          <a:solidFill>
            <a:srgbClr val="F5F7FA"/>
          </a:solidFill>
          <a:ln w="15875">
            <a:solidFill>
              <a:srgbClr val="E8A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931920"/>
            <a:ext cx="5440680" cy="365760"/>
          </a:xfrm>
          <a:prstGeom prst="rect">
            <a:avLst/>
          </a:prstGeom>
          <a:solidFill>
            <a:srgbClr val="E8A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50" b="1">
                <a:solidFill>
                  <a:srgbClr val="FFFFFF"/>
                </a:solidFill>
                <a:latin typeface="Yu Gothic UI"/>
              </a:rPr>
              <a:t>  Opportunities｜機会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407408"/>
            <a:ext cx="50749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00" b="1">
                <a:solidFill>
                  <a:srgbClr val="E8A02E"/>
                </a:solidFill>
                <a:latin typeface="Yu Gothic UI"/>
              </a:rPr>
              <a:t>● ［政治］補助金2026で導入費用を最大1/2補助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00" b="1">
                <a:solidFill>
                  <a:srgbClr val="E8A02E"/>
                </a:solidFill>
                <a:latin typeface="Yu Gothic UI"/>
              </a:rPr>
              <a:t>● ［経済］人手不足倒産増加で効率化ニーズ拡大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00" b="1">
                <a:solidFill>
                  <a:srgbClr val="E8A02E"/>
                </a:solidFill>
                <a:latin typeface="Yu Gothic UI"/>
              </a:rPr>
              <a:t>● ［社会］ハイブリッドワーク定着、DX進捗1.4%の未開拓市場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00" b="1">
                <a:solidFill>
                  <a:srgbClr val="E8A02E"/>
                </a:solidFill>
                <a:latin typeface="Yu Gothic UI"/>
              </a:rPr>
              <a:t>● ［技術］LLM低コスト化で開発優位性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931920"/>
            <a:ext cx="5440680" cy="2286000"/>
          </a:xfrm>
          <a:prstGeom prst="roundRect">
            <a:avLst/>
          </a:prstGeom>
          <a:solidFill>
            <a:srgbClr val="F5F7FA"/>
          </a:solidFill>
          <a:ln w="15875">
            <a:solidFill>
              <a:srgbClr val="243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3931920"/>
            <a:ext cx="5440680" cy="365760"/>
          </a:xfrm>
          <a:prstGeom prst="rect">
            <a:avLst/>
          </a:prstGeom>
          <a:solidFill>
            <a:srgbClr val="24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50" b="1">
                <a:solidFill>
                  <a:srgbClr val="FFFFFF"/>
                </a:solidFill>
                <a:latin typeface="Yu Gothic UI"/>
              </a:rPr>
              <a:t>  Threats｜脅威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4407408"/>
            <a:ext cx="50749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00" b="1">
                <a:solidFill>
                  <a:srgbClr val="243B63"/>
                </a:solidFill>
                <a:latin typeface="Yu Gothic UI"/>
              </a:rPr>
              <a:t>● ［政治］個人情報保護法改正で規制対応コスト増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00" b="1">
                <a:solidFill>
                  <a:srgbClr val="243B63"/>
                </a:solidFill>
                <a:latin typeface="Yu Gothic UI"/>
              </a:rPr>
              <a:t>● ［経済］中小企業のIT予算確保の難しさ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00" b="1">
                <a:solidFill>
                  <a:srgbClr val="243B63"/>
                </a:solidFill>
                <a:latin typeface="Yu Gothic UI"/>
              </a:rPr>
              <a:t>● ［社会］大手プラットフォームのAI機能無償化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00" b="1">
                <a:solidFill>
                  <a:srgbClr val="243B63"/>
                </a:solidFill>
                <a:latin typeface="Yu Gothic UI"/>
              </a:rPr>
              <a:t>● ［技術］技術キャッチアップの速さによる同質化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E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9E8D"/>
                </a:solidFill>
                <a:latin typeface="Yu Gothic UI"/>
              </a:rPr>
              <a:t>09  COMPETITION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43E"/>
                </a:solidFill>
                <a:latin typeface="Yu Gothic UI"/>
              </a:rPr>
              <a:t>競合比較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11155680" cy="17780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9AEB6"/>
                </a:solidFill>
                <a:latin typeface="Yu Gothic UI"/>
              </a:rPr>
              <a:t>MeetMemo 事業提案資料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9AEB6"/>
                </a:solidFill>
                <a:latin typeface="Yu Gothic UI"/>
              </a:rPr>
              <a:t>9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554480"/>
          <a:ext cx="1033272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965960"/>
                <a:gridCol w="1965960"/>
                <a:gridCol w="2148840"/>
                <a:gridCol w="2240280"/>
              </a:tblGrid>
              <a:tr h="472440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Yu Gothic UI"/>
                        </a:rPr>
                        <a:t>項目</a:t>
                      </a:r>
                    </a:p>
                  </a:txBody>
                  <a:tcPr anchor="ctr" marT="50800" marB="50800">
                    <a:solidFill>
                      <a:srgbClr val="1624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Yu Gothic UI"/>
                        </a:rPr>
                        <a:t>Notta</a:t>
                      </a:r>
                    </a:p>
                  </a:txBody>
                  <a:tcPr anchor="ctr" marT="50800" marB="50800">
                    <a:solidFill>
                      <a:srgbClr val="1624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Yu Gothic UI"/>
                        </a:rPr>
                        <a:t>Otter.ai</a:t>
                      </a:r>
                    </a:p>
                  </a:txBody>
                  <a:tcPr anchor="ctr" marT="50800" marB="50800">
                    <a:solidFill>
                      <a:srgbClr val="1624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Yu Gothic UI"/>
                        </a:rPr>
                        <a:t>LINE WORKS
AiNote</a:t>
                      </a:r>
                    </a:p>
                  </a:txBody>
                  <a:tcPr anchor="ctr" marT="50800" marB="50800">
                    <a:solidFill>
                      <a:srgbClr val="1624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Yu Gothic UI"/>
                        </a:rPr>
                        <a:t>MeetMemo（自社）</a:t>
                      </a:r>
                    </a:p>
                  </a:txBody>
                  <a:tcPr anchor="ctr" marT="50800" marB="50800">
                    <a:solidFill>
                      <a:srgbClr val="16243E"/>
                    </a:solidFill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840"/>
                          </a:solidFill>
                          <a:latin typeface="Yu Gothic UI"/>
                        </a:rPr>
                        <a:t>料金目安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840"/>
                          </a:solidFill>
                          <a:latin typeface="Yu Gothic UI"/>
                        </a:rPr>
                        <a:t>2,508円〜
／ユーザー／月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840"/>
                          </a:solidFill>
                          <a:latin typeface="Yu Gothic UI"/>
                        </a:rPr>
                        <a:t>約4,500円
／ユーザー／月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840"/>
                          </a:solidFill>
                          <a:latin typeface="Yu Gothic UI"/>
                        </a:rPr>
                        <a:t>月19,800円〜
（チーム・100時間）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9E8D"/>
                          </a:solidFill>
                          <a:latin typeface="Yu Gothic UI"/>
                        </a:rPr>
                        <a:t>3,000円
／ユーザー／月</a:t>
                      </a:r>
                    </a:p>
                  </a:txBody>
                  <a:tcPr anchor="ctr" marT="38100" marB="38100" marL="76200" marR="76200">
                    <a:solidFill>
                      <a:srgbClr val="E3F5F2"/>
                    </a:solidFill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840"/>
                          </a:solidFill>
                          <a:latin typeface="Yu Gothic UI"/>
                        </a:rPr>
                        <a:t>文字起こし・要約</a:t>
                      </a:r>
                    </a:p>
                  </a:txBody>
                  <a:tcPr anchor="ctr" marT="38100" marB="38100" marL="76200" marR="76200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840"/>
                          </a:solidFill>
                          <a:latin typeface="Yu Gothic UI"/>
                        </a:rPr>
                        <a:t>○</a:t>
                      </a:r>
                    </a:p>
                  </a:txBody>
                  <a:tcPr anchor="ctr" marT="38100" marB="38100" marL="76200" marR="76200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840"/>
                          </a:solidFill>
                          <a:latin typeface="Yu Gothic UI"/>
                        </a:rPr>
                        <a:t>○（AI Chat有）</a:t>
                      </a:r>
                    </a:p>
                  </a:txBody>
                  <a:tcPr anchor="ctr" marT="38100" marB="38100" marL="76200" marR="76200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840"/>
                          </a:solidFill>
                          <a:latin typeface="Yu Gothic UI"/>
                        </a:rPr>
                        <a:t>○（精度90%以上）</a:t>
                      </a:r>
                    </a:p>
                  </a:txBody>
                  <a:tcPr anchor="ctr" marT="38100" marB="38100" marL="76200" marR="76200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9E8D"/>
                          </a:solidFill>
                          <a:latin typeface="Yu Gothic UI"/>
                        </a:rPr>
                        <a:t>○</a:t>
                      </a:r>
                    </a:p>
                  </a:txBody>
                  <a:tcPr anchor="ctr" marT="38100" marB="38100" marL="76200" marR="76200">
                    <a:solidFill>
                      <a:srgbClr val="E3F5F2"/>
                    </a:solidFill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840"/>
                          </a:solidFill>
                          <a:latin typeface="Yu Gothic UI"/>
                        </a:rPr>
                        <a:t>タスク自動抽出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840"/>
                          </a:solidFill>
                          <a:latin typeface="Yu Gothic UI"/>
                        </a:rPr>
                        <a:t>△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840"/>
                          </a:solidFill>
                          <a:latin typeface="Yu Gothic UI"/>
                        </a:rPr>
                        <a:t>△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840"/>
                          </a:solidFill>
                          <a:latin typeface="Yu Gothic UI"/>
                        </a:rPr>
                        <a:t>情報限定的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9E8D"/>
                          </a:solidFill>
                          <a:latin typeface="Yu Gothic UI"/>
                        </a:rPr>
                        <a:t>◎</a:t>
                      </a:r>
                    </a:p>
                  </a:txBody>
                  <a:tcPr anchor="ctr" marT="38100" marB="38100" marL="76200" marR="76200">
                    <a:solidFill>
                      <a:srgbClr val="E3F5F2"/>
                    </a:solidFill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840"/>
                          </a:solidFill>
                          <a:latin typeface="Yu Gothic UI"/>
                        </a:rPr>
                        <a:t>担当者への自動通知</a:t>
                      </a:r>
                    </a:p>
                  </a:txBody>
                  <a:tcPr anchor="ctr" marT="38100" marB="38100" marL="76200" marR="76200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840"/>
                          </a:solidFill>
                          <a:latin typeface="Yu Gothic UI"/>
                        </a:rPr>
                        <a:t>×</a:t>
                      </a:r>
                    </a:p>
                  </a:txBody>
                  <a:tcPr anchor="ctr" marT="38100" marB="38100" marL="76200" marR="76200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840"/>
                          </a:solidFill>
                          <a:latin typeface="Yu Gothic UI"/>
                        </a:rPr>
                        <a:t>×</a:t>
                      </a:r>
                    </a:p>
                  </a:txBody>
                  <a:tcPr anchor="ctr" marT="38100" marB="38100" marL="76200" marR="76200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840"/>
                          </a:solidFill>
                          <a:latin typeface="Yu Gothic UI"/>
                        </a:rPr>
                        <a:t>×（公開情報上）</a:t>
                      </a:r>
                    </a:p>
                  </a:txBody>
                  <a:tcPr anchor="ctr" marT="38100" marB="38100" marL="76200" marR="76200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9E8D"/>
                          </a:solidFill>
                          <a:latin typeface="Yu Gothic UI"/>
                        </a:rPr>
                        <a:t>◎</a:t>
                      </a:r>
                    </a:p>
                  </a:txBody>
                  <a:tcPr anchor="ctr" marT="38100" marB="38100" marL="76200" marR="76200">
                    <a:solidFill>
                      <a:srgbClr val="E3F5F2"/>
                    </a:solidFill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840"/>
                          </a:solidFill>
                          <a:latin typeface="Yu Gothic UI"/>
                        </a:rPr>
                        <a:t>ターゲット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840"/>
                          </a:solidFill>
                          <a:latin typeface="Yu Gothic UI"/>
                        </a:rPr>
                        <a:t>個人〜チーム全般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840"/>
                          </a:solidFill>
                          <a:latin typeface="Yu Gothic UI"/>
                        </a:rPr>
                        <a:t>個人〜チーム
（海外中心）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840"/>
                          </a:solidFill>
                          <a:latin typeface="Yu Gothic UI"/>
                        </a:rPr>
                        <a:t>LINE WORKS
利用企業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9E8D"/>
                          </a:solidFill>
                          <a:latin typeface="Yu Gothic UI"/>
                        </a:rPr>
                        <a:t>中小企業
（50名以下）特化</a:t>
                      </a:r>
                    </a:p>
                  </a:txBody>
                  <a:tcPr anchor="ctr" marT="38100" marB="38100" marL="76200" marR="76200">
                    <a:solidFill>
                      <a:srgbClr val="E3F5F2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4709160"/>
            <a:ext cx="10332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6243E"/>
                </a:solidFill>
                <a:latin typeface="Yu Gothic UI"/>
              </a:rPr>
              <a:t>既存競合は文字起こし・要約の精度競争が中心で、会議後の「タスク実行支援」を主軸に据えたプレイヤーは少ない。</a:t>
            </a:r>
          </a:p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6243E"/>
                </a:solidFill>
                <a:latin typeface="Yu Gothic UI"/>
              </a:rPr>
              <a:t>MeetMemoはこの空白地帯を主戦場とし、料金面でもユーザー数×定額のシンプルな設計で中小企業の予算制約に対応する。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E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9E8D"/>
                </a:solidFill>
                <a:latin typeface="Yu Gothic UI"/>
              </a:rPr>
              <a:t>10  DIFFERENTIATION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43E"/>
                </a:solidFill>
                <a:latin typeface="Yu Gothic UI"/>
              </a:rPr>
              <a:t>差別化ポイント（自社が勝てる3つの軸）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11155680" cy="17780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9AEB6"/>
                </a:solidFill>
                <a:latin typeface="Yu Gothic UI"/>
              </a:rPr>
              <a:t>MeetMemo 事業提案資料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9AEB6"/>
                </a:solidFill>
                <a:latin typeface="Yu Gothic UI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91640"/>
            <a:ext cx="3520440" cy="310896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9E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1920240"/>
            <a:ext cx="640080" cy="640080"/>
          </a:xfrm>
          <a:prstGeom prst="ellipse">
            <a:avLst/>
          </a:prstGeom>
          <a:solidFill>
            <a:srgbClr val="009E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Yu Gothic UI"/>
              </a:rPr>
              <a:t>軸1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43200"/>
            <a:ext cx="3154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650" b="1" i="0">
                <a:solidFill>
                  <a:srgbClr val="16243E"/>
                </a:solidFill>
                <a:latin typeface="Yu Gothic UI"/>
              </a:rPr>
              <a:t>タスク自動化への特化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429000"/>
            <a:ext cx="31546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4A4F58"/>
                </a:solidFill>
                <a:latin typeface="Yu Gothic UI"/>
              </a:rPr>
              <a:t>会議の「その後」まで自動化。競合が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4A4F58"/>
                </a:solidFill>
                <a:latin typeface="Yu Gothic UI"/>
              </a:rPr>
              <a:t>手薄なタスク抽出・担当者通知を主軸に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59" y="1691640"/>
            <a:ext cx="3520440" cy="310896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E8A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480559" y="1920240"/>
            <a:ext cx="640080" cy="640080"/>
          </a:xfrm>
          <a:prstGeom prst="ellipse">
            <a:avLst/>
          </a:prstGeom>
          <a:solidFill>
            <a:srgbClr val="E8A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Yu Gothic UI"/>
              </a:rPr>
              <a:t>軸2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39" y="2743200"/>
            <a:ext cx="3154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650" b="1" i="0">
                <a:solidFill>
                  <a:srgbClr val="16243E"/>
                </a:solidFill>
                <a:latin typeface="Yu Gothic UI"/>
              </a:rPr>
              <a:t>中小企業向け低価格設計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39" y="3429000"/>
            <a:ext cx="31546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4A4F58"/>
                </a:solidFill>
                <a:latin typeface="Yu Gothic UI"/>
              </a:rPr>
              <a:t>ユーザー数×定額3,000円で予算化しやすく、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4A4F58"/>
                </a:solidFill>
                <a:latin typeface="Yu Gothic UI"/>
              </a:rPr>
              <a:t>従量課金の不透明さを回避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1691640"/>
            <a:ext cx="3520440" cy="310896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E05D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29600" y="1920240"/>
            <a:ext cx="640080" cy="640080"/>
          </a:xfrm>
          <a:prstGeom prst="ellipse">
            <a:avLst/>
          </a:prstGeom>
          <a:solidFill>
            <a:srgbClr val="E0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Yu Gothic UI"/>
              </a:rPr>
              <a:t>軸3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80" y="2743200"/>
            <a:ext cx="3154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650" b="1" i="0">
                <a:solidFill>
                  <a:srgbClr val="16243E"/>
                </a:solidFill>
                <a:latin typeface="Yu Gothic UI"/>
              </a:rPr>
              <a:t>補助金活用による価格優位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80" y="3429000"/>
            <a:ext cx="31546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4A4F58"/>
                </a:solidFill>
                <a:latin typeface="Yu Gothic UI"/>
              </a:rPr>
              <a:t>デジタル化・AI導入補助金2026の対象登録で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4A4F58"/>
                </a:solidFill>
                <a:latin typeface="Yu Gothic UI"/>
              </a:rPr>
              <a:t>実質導入コストをさらに引き下げ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E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9E8D"/>
                </a:solidFill>
                <a:latin typeface="Yu Gothic UI"/>
              </a:rPr>
              <a:t>11  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43E"/>
                </a:solidFill>
                <a:latin typeface="Yu Gothic UI"/>
              </a:rPr>
              <a:t>ビジネスモデル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11155680" cy="17780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9AEB6"/>
                </a:solidFill>
                <a:latin typeface="Yu Gothic UI"/>
              </a:rPr>
              <a:t>MeetMemo 事業提案資料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9AEB6"/>
                </a:solidFill>
                <a:latin typeface="Yu Gothic UI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630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6243E"/>
                </a:solidFill>
                <a:latin typeface="Yu Gothic UI"/>
              </a:rPr>
              <a:t>収益モデル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300" b="1">
                <a:solidFill>
                  <a:srgbClr val="009E8D"/>
                </a:solidFill>
                <a:latin typeface="Yu Gothic UI"/>
              </a:rPr>
              <a:t>● 月額課金（サブスクリプション）：3,000円／ユーザー／月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300" b="1">
                <a:solidFill>
                  <a:srgbClr val="009E8D"/>
                </a:solidFill>
                <a:latin typeface="Yu Gothic UI"/>
              </a:rPr>
              <a:t>● 契約単位：企業単位（平均利用ユーザー数5〜8名／社を想定）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300" b="1">
                <a:solidFill>
                  <a:srgbClr val="009E8D"/>
                </a:solidFill>
                <a:latin typeface="Yu Gothic UI"/>
              </a:rPr>
              <a:t>● 支払サイクル：月額／年額（年払いで割引を想定）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300" b="1">
                <a:solidFill>
                  <a:srgbClr val="009E8D"/>
                </a:solidFill>
                <a:latin typeface="Yu Gothic UI"/>
              </a:rPr>
              <a:t>● デジタル化・AI導入補助金2026の対象ツール登録を目指し、実質導入コストを引き下げ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14630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6243E"/>
                </a:solidFill>
                <a:latin typeface="Yu Gothic UI"/>
              </a:rPr>
              <a:t>コスト構造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300" b="1">
                <a:solidFill>
                  <a:srgbClr val="E8A02E"/>
                </a:solidFill>
                <a:latin typeface="Yu Gothic UI"/>
              </a:rPr>
              <a:t>● 変動費：音声認識・LLM API利用料（会議時間・ユーザー数に比例）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300" b="1">
                <a:solidFill>
                  <a:srgbClr val="E8A02E"/>
                </a:solidFill>
                <a:latin typeface="Yu Gothic UI"/>
              </a:rPr>
              <a:t>● 変動費：Slack／メール等の通知連携API費用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300" b="1">
                <a:solidFill>
                  <a:srgbClr val="E8A02E"/>
                </a:solidFill>
                <a:latin typeface="Yu Gothic UI"/>
              </a:rPr>
              <a:t>● 固定費：開発・エンジニア人件費、営業・マーケティング費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300" b="1">
                <a:solidFill>
                  <a:srgbClr val="E8A02E"/>
                </a:solidFill>
                <a:latin typeface="Yu Gothic UI"/>
              </a:rPr>
              <a:t>● 固定費：クラウドインフラ基盤費、カスタマーサポート費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02920" y="4572000"/>
          <a:ext cx="1088136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023360"/>
                <a:gridCol w="41148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Yu Gothic UI"/>
                        </a:rPr>
                        <a:t>比較軸</a:t>
                      </a:r>
                    </a:p>
                  </a:txBody>
                  <a:tcPr anchor="ctr" marT="50800" marB="50800">
                    <a:solidFill>
                      <a:srgbClr val="1624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Yu Gothic UI"/>
                        </a:rPr>
                        <a:t>MeetMemo</a:t>
                      </a:r>
                    </a:p>
                  </a:txBody>
                  <a:tcPr anchor="ctr" marT="50800" marB="50800">
                    <a:solidFill>
                      <a:srgbClr val="1624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Yu Gothic UI"/>
                        </a:rPr>
                        <a:t>参考：競合水準</a:t>
                      </a:r>
                    </a:p>
                  </a:txBody>
                  <a:tcPr anchor="ctr" marT="50800" marB="50800">
                    <a:solidFill>
                      <a:srgbClr val="16243E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840"/>
                          </a:solidFill>
                          <a:latin typeface="Yu Gothic UI"/>
                        </a:rPr>
                        <a:t>個人〜チーム向け単価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9E8D"/>
                          </a:solidFill>
                          <a:latin typeface="Yu Gothic UI"/>
                        </a:rPr>
                        <a:t>3,000円／ユーザー／月</a:t>
                      </a:r>
                    </a:p>
                  </a:txBody>
                  <a:tcPr anchor="ctr" marT="38100" marB="38100" marL="76200" marR="76200">
                    <a:solidFill>
                      <a:srgbClr val="E3F5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840"/>
                          </a:solidFill>
                          <a:latin typeface="Yu Gothic UI"/>
                        </a:rPr>
                        <a:t>Notta 2,508円〜／ユーザー／月
Otter.ai Business 約4,500円／ユーザー／月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840"/>
                          </a:solidFill>
                          <a:latin typeface="Yu Gothic UI"/>
                        </a:rPr>
                        <a:t>契約形態</a:t>
                      </a:r>
                    </a:p>
                  </a:txBody>
                  <a:tcPr anchor="ctr" marT="38100" marB="38100" marL="76200" marR="76200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9E8D"/>
                          </a:solidFill>
                          <a:latin typeface="Yu Gothic UI"/>
                        </a:rPr>
                        <a:t>ユーザー課金でシンプル・予測可能</a:t>
                      </a:r>
                    </a:p>
                  </a:txBody>
                  <a:tcPr anchor="ctr" marT="38100" marB="38100" marL="76200" marR="76200">
                    <a:solidFill>
                      <a:srgbClr val="E3F5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840"/>
                          </a:solidFill>
                          <a:latin typeface="Yu Gothic UI"/>
                        </a:rPr>
                        <a:t>LINE WORKS AiNoteは時間従量制
（チーム月19,800円〜、100時間まで）</a:t>
                      </a:r>
                    </a:p>
                  </a:txBody>
                  <a:tcPr anchor="ctr" marT="38100" marB="38100" marL="76200" marR="76200"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E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9E8D"/>
                </a:solidFill>
                <a:latin typeface="Yu Gothic UI"/>
              </a:rPr>
              <a:t>12 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43E"/>
                </a:solidFill>
                <a:latin typeface="Yu Gothic UI"/>
              </a:rPr>
              <a:t>実行ロードマップ（最初の1年）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11155680" cy="17780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9AEB6"/>
                </a:solidFill>
                <a:latin typeface="Yu Gothic UI"/>
              </a:rPr>
              <a:t>MeetMemo 事業提案資料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9AEB6"/>
                </a:solidFill>
                <a:latin typeface="Yu Gothic UI"/>
              </a:rPr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508760"/>
            <a:ext cx="2697480" cy="777240"/>
          </a:xfrm>
          <a:prstGeom prst="rect">
            <a:avLst/>
          </a:prstGeom>
          <a:solidFill>
            <a:srgbClr val="009E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 UI"/>
              </a:rPr>
              <a:t>Q1</a:t>
            </a:r>
          </a:p>
          <a:p>
            <a:pPr algn="ctr"/>
            <a:r>
              <a:rPr sz="1050">
                <a:solidFill>
                  <a:srgbClr val="FFFFFF"/>
                </a:solidFill>
                <a:latin typeface="Yu Gothic UI"/>
              </a:rPr>
              <a:t>1〜3ヶ月目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2697480" cy="3108960"/>
          </a:xfrm>
          <a:prstGeom prst="rect">
            <a:avLst/>
          </a:prstGeom>
          <a:solidFill>
            <a:srgbClr val="F5F7FA"/>
          </a:solidFill>
          <a:ln w="15875">
            <a:solidFill>
              <a:srgbClr val="009E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95728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16243E"/>
                </a:solidFill>
                <a:latin typeface="Yu Gothic UI"/>
              </a:rPr>
              <a:t>MVP開発・検証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26080"/>
            <a:ext cx="2423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080" b="1">
                <a:solidFill>
                  <a:srgbClr val="009E8D"/>
                </a:solidFill>
                <a:latin typeface="Yu Gothic UI"/>
              </a:rPr>
              <a:t>● コア機能（録音〜議事録化〜タスク抽出〜通知）をMVPとして開発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080" b="1">
                <a:solidFill>
                  <a:srgbClr val="009E8D"/>
                </a:solidFill>
                <a:latin typeface="Yu Gothic UI"/>
              </a:rPr>
              <a:t>● 中小企業5〜10社にPoC協力を依頼し精度・効果を検証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1508760"/>
            <a:ext cx="2697480" cy="777240"/>
          </a:xfrm>
          <a:prstGeom prst="rect">
            <a:avLst/>
          </a:prstGeom>
          <a:solidFill>
            <a:srgbClr val="E8A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 UI"/>
              </a:rPr>
              <a:t>Q2</a:t>
            </a:r>
          </a:p>
          <a:p>
            <a:pPr algn="ctr"/>
            <a:r>
              <a:rPr sz="1050">
                <a:solidFill>
                  <a:srgbClr val="FFFFFF"/>
                </a:solidFill>
                <a:latin typeface="Yu Gothic UI"/>
              </a:rPr>
              <a:t>4〜6ヶ月目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37560" y="2286000"/>
            <a:ext cx="2697480" cy="3108960"/>
          </a:xfrm>
          <a:prstGeom prst="rect">
            <a:avLst/>
          </a:prstGeom>
          <a:solidFill>
            <a:srgbClr val="F5F7FA"/>
          </a:solidFill>
          <a:ln w="15875">
            <a:solidFill>
              <a:srgbClr val="E8A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2395728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16243E"/>
                </a:solidFill>
                <a:latin typeface="Yu Gothic UI"/>
              </a:rPr>
              <a:t>ベータ版・限定リリース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926080"/>
            <a:ext cx="2423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080" b="1">
                <a:solidFill>
                  <a:srgbClr val="E8A02E"/>
                </a:solidFill>
                <a:latin typeface="Yu Gothic UI"/>
              </a:rPr>
              <a:t>● PoCフィードバックを反映しベータ版をリリース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080" b="1">
                <a:solidFill>
                  <a:srgbClr val="E8A02E"/>
                </a:solidFill>
                <a:latin typeface="Yu Gothic UI"/>
              </a:rPr>
              <a:t>● 限定招待制で30〜50社規模の有料トライアル開始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080" b="1">
                <a:solidFill>
                  <a:srgbClr val="E8A02E"/>
                </a:solidFill>
                <a:latin typeface="Yu Gothic UI"/>
              </a:rPr>
              <a:t>● 補助金対象ツール登録申請を開始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1508760"/>
            <a:ext cx="2697480" cy="777240"/>
          </a:xfrm>
          <a:prstGeom prst="rect">
            <a:avLst/>
          </a:prstGeom>
          <a:solidFill>
            <a:srgbClr val="E0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 UI"/>
              </a:rPr>
              <a:t>Q3</a:t>
            </a:r>
          </a:p>
          <a:p>
            <a:pPr algn="ctr"/>
            <a:r>
              <a:rPr sz="1050">
                <a:solidFill>
                  <a:srgbClr val="FFFFFF"/>
                </a:solidFill>
                <a:latin typeface="Yu Gothic UI"/>
              </a:rPr>
              <a:t>7〜9ヶ月目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2286000"/>
            <a:ext cx="2697480" cy="3108960"/>
          </a:xfrm>
          <a:prstGeom prst="rect">
            <a:avLst/>
          </a:prstGeom>
          <a:solidFill>
            <a:srgbClr val="F5F7FA"/>
          </a:solidFill>
          <a:ln w="15875">
            <a:solidFill>
              <a:srgbClr val="E05D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2395728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16243E"/>
                </a:solidFill>
                <a:latin typeface="Yu Gothic UI"/>
              </a:rPr>
              <a:t>正式ローンチ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926080"/>
            <a:ext cx="2423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080" b="1">
                <a:solidFill>
                  <a:srgbClr val="E05D5D"/>
                </a:solidFill>
                <a:latin typeface="Yu Gothic UI"/>
              </a:rPr>
              <a:t>● 正式版を一般提供開始、料金プランを確定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080" b="1">
                <a:solidFill>
                  <a:srgbClr val="E05D5D"/>
                </a:solidFill>
                <a:latin typeface="Yu Gothic UI"/>
              </a:rPr>
              <a:t>● SaaS比較サイト・商工会議所等への掲載・連携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6840" y="1508760"/>
            <a:ext cx="2697480" cy="777240"/>
          </a:xfrm>
          <a:prstGeom prst="rect">
            <a:avLst/>
          </a:prstGeom>
          <a:solidFill>
            <a:srgbClr val="24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 UI"/>
              </a:rPr>
              <a:t>Q4</a:t>
            </a:r>
          </a:p>
          <a:p>
            <a:pPr algn="ctr"/>
            <a:r>
              <a:rPr sz="1050">
                <a:solidFill>
                  <a:srgbClr val="FFFFFF"/>
                </a:solidFill>
                <a:latin typeface="Yu Gothic UI"/>
              </a:rPr>
              <a:t>10〜12ヶ月目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06840" y="2286000"/>
            <a:ext cx="2697480" cy="3108960"/>
          </a:xfrm>
          <a:prstGeom prst="rect">
            <a:avLst/>
          </a:prstGeom>
          <a:solidFill>
            <a:srgbClr val="F5F7FA"/>
          </a:solidFill>
          <a:ln w="15875">
            <a:solidFill>
              <a:srgbClr val="243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0" y="2395728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16243E"/>
                </a:solidFill>
                <a:latin typeface="Yu Gothic UI"/>
              </a:rPr>
              <a:t>拡販・体制強化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926080"/>
            <a:ext cx="2423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080" b="1">
                <a:solidFill>
                  <a:srgbClr val="243B63"/>
                </a:solidFill>
                <a:latin typeface="Yu Gothic UI"/>
              </a:rPr>
              <a:t>● 有料導入150社（期末）を目標に営業強化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080" b="1">
                <a:solidFill>
                  <a:srgbClr val="243B63"/>
                </a:solidFill>
                <a:latin typeface="Yu Gothic UI"/>
              </a:rPr>
              <a:t>● 活用事例・口コミの収集とシード資金調達の検討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E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9E8D"/>
                </a:solidFill>
                <a:latin typeface="Yu Gothic UI"/>
              </a:rPr>
              <a:t>13  FINANCIALS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43E"/>
                </a:solidFill>
                <a:latin typeface="Yu Gothic UI"/>
              </a:rPr>
              <a:t>財務計画（初年度〜3年目の収支概算）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11155680" cy="17780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9AEB6"/>
                </a:solidFill>
                <a:latin typeface="Yu Gothic UI"/>
              </a:rPr>
              <a:t>MeetMemo 事業提案資料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9AEB6"/>
                </a:solidFill>
                <a:latin typeface="Yu Gothic UI"/>
              </a:rPr>
              <a:t>13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508760"/>
          <a:ext cx="667512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1280160"/>
                <a:gridCol w="1280160"/>
                <a:gridCol w="1280160"/>
              </a:tblGrid>
              <a:tr h="493776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Yu Gothic UI"/>
                        </a:rPr>
                        <a:t>項目</a:t>
                      </a:r>
                    </a:p>
                  </a:txBody>
                  <a:tcPr anchor="ctr" marT="50800" marB="50800">
                    <a:solidFill>
                      <a:srgbClr val="1624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Yu Gothic UI"/>
                        </a:rPr>
                        <a:t>Year1</a:t>
                      </a:r>
                    </a:p>
                  </a:txBody>
                  <a:tcPr anchor="ctr" marT="50800" marB="50800">
                    <a:solidFill>
                      <a:srgbClr val="1624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Yu Gothic UI"/>
                        </a:rPr>
                        <a:t>Year2</a:t>
                      </a:r>
                    </a:p>
                  </a:txBody>
                  <a:tcPr anchor="ctr" marT="50800" marB="50800">
                    <a:solidFill>
                      <a:srgbClr val="1624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Yu Gothic UI"/>
                        </a:rPr>
                        <a:t>Year3</a:t>
                      </a:r>
                    </a:p>
                  </a:txBody>
                  <a:tcPr anchor="ctr" marT="50800" marB="50800">
                    <a:solidFill>
                      <a:srgbClr val="16243E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33840"/>
                          </a:solidFill>
                          <a:latin typeface="Yu Gothic UI"/>
                        </a:rPr>
                        <a:t>有料導入社数（期末）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333840"/>
                          </a:solidFill>
                          <a:latin typeface="Yu Gothic UI"/>
                        </a:rPr>
                        <a:t>150社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333840"/>
                          </a:solidFill>
                          <a:latin typeface="Yu Gothic UI"/>
                        </a:rPr>
                        <a:t>600社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333840"/>
                          </a:solidFill>
                          <a:latin typeface="Yu Gothic UI"/>
                        </a:rPr>
                        <a:t>1,800社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33840"/>
                          </a:solidFill>
                          <a:latin typeface="Yu Gothic UI"/>
                        </a:rPr>
                        <a:t>年間売上高（概算）</a:t>
                      </a:r>
                    </a:p>
                  </a:txBody>
                  <a:tcPr anchor="ctr" marT="38100" marB="38100" marL="76200" marR="76200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333840"/>
                          </a:solidFill>
                          <a:latin typeface="Yu Gothic UI"/>
                        </a:rPr>
                        <a:t>約1,350万円</a:t>
                      </a:r>
                    </a:p>
                  </a:txBody>
                  <a:tcPr anchor="ctr" marT="38100" marB="38100" marL="76200" marR="76200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333840"/>
                          </a:solidFill>
                          <a:latin typeface="Yu Gothic UI"/>
                        </a:rPr>
                        <a:t>約6,750万円</a:t>
                      </a:r>
                    </a:p>
                  </a:txBody>
                  <a:tcPr anchor="ctr" marT="38100" marB="38100" marL="76200" marR="76200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333840"/>
                          </a:solidFill>
                          <a:latin typeface="Yu Gothic UI"/>
                        </a:rPr>
                        <a:t>約2億4,840万円</a:t>
                      </a:r>
                    </a:p>
                  </a:txBody>
                  <a:tcPr anchor="ctr" marT="38100" marB="38100" marL="76200" marR="76200">
                    <a:solidFill>
                      <a:srgbClr val="EEF2F6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33840"/>
                          </a:solidFill>
                          <a:latin typeface="Yu Gothic UI"/>
                        </a:rPr>
                        <a:t>総コスト（人件費・開発・マーケ等）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333840"/>
                          </a:solidFill>
                          <a:latin typeface="Yu Gothic UI"/>
                        </a:rPr>
                        <a:t>約3,400万円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333840"/>
                          </a:solidFill>
                          <a:latin typeface="Yu Gothic UI"/>
                        </a:rPr>
                        <a:t>約7,900万円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333840"/>
                          </a:solidFill>
                          <a:latin typeface="Yu Gothic UI"/>
                        </a:rPr>
                        <a:t>約1億5,100万円</a:t>
                      </a:r>
                    </a:p>
                  </a:txBody>
                  <a:tcPr anchor="ctr" marT="38100" marB="38100" marL="76200" marR="76200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33840"/>
                          </a:solidFill>
                          <a:latin typeface="Yu Gothic UI"/>
                        </a:rPr>
                        <a:t>営業損益（概算）</a:t>
                      </a:r>
                    </a:p>
                  </a:txBody>
                  <a:tcPr anchor="ctr" marT="38100" marB="38100" marL="76200" marR="76200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333840"/>
                          </a:solidFill>
                          <a:latin typeface="Yu Gothic UI"/>
                        </a:rPr>
                        <a:t>約▲2,050万円</a:t>
                      </a:r>
                    </a:p>
                  </a:txBody>
                  <a:tcPr anchor="ctr" marT="38100" marB="38100" marL="76200" marR="76200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333840"/>
                          </a:solidFill>
                          <a:latin typeface="Yu Gothic UI"/>
                        </a:rPr>
                        <a:t>約▲1,150万円</a:t>
                      </a:r>
                    </a:p>
                  </a:txBody>
                  <a:tcPr anchor="ctr" marT="38100" marB="38100" marL="76200" marR="76200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333840"/>
                          </a:solidFill>
                          <a:latin typeface="Yu Gothic UI"/>
                        </a:rPr>
                        <a:t>約＋9,740万円</a:t>
                      </a:r>
                    </a:p>
                  </a:txBody>
                  <a:tcPr anchor="ctr" marT="38100" marB="38100" marL="76200" marR="76200"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406640" y="1508760"/>
          <a:ext cx="4343400" cy="2834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02920" y="416052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243E"/>
                </a:solidFill>
                <a:latin typeface="Yu Gothic UI"/>
              </a:rPr>
              <a:t>資金計画の考え方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526280"/>
            <a:ext cx="11155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300" b="1">
                <a:solidFill>
                  <a:srgbClr val="009E8D"/>
                </a:solidFill>
                <a:latin typeface="Yu Gothic UI"/>
              </a:rPr>
              <a:t>● Year1〜2は開発・PoC・初期営業投資が先行し赤字を見込むため、シード〜シリーズA相当の外部資金調達（目安3,000万〜5,000万円）を想定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300" b="1">
                <a:solidFill>
                  <a:srgbClr val="009E8D"/>
                </a:solidFill>
                <a:latin typeface="Yu Gothic UI"/>
              </a:rPr>
              <a:t>● Year3で単年度黒字化を見込み、SOM（3〜5年後ARR約6億円）に向けた成長軌道に乗せることを目指す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300" b="1">
                <a:solidFill>
                  <a:srgbClr val="009E8D"/>
                </a:solidFill>
                <a:latin typeface="Yu Gothic UI"/>
              </a:rPr>
              <a:t>● 補助金対象ツール登録や年払い比率の向上により、キャッシュフローの改善を図る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E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9E8D"/>
                </a:solidFill>
                <a:latin typeface="Yu Gothic UI"/>
              </a:rPr>
              <a:t>10 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Yu Gothic UI"/>
              </a:rPr>
              <a:t>まとめ・Next 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0607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50" b="1">
                <a:solidFill>
                  <a:srgbClr val="009E8D"/>
                </a:solidFill>
                <a:latin typeface="Yu Gothic UI"/>
              </a:rPr>
              <a:t>● 課題仮説・市場規模・競合分析のいずれからも、「タスク自動抽出＋担当者通知」という機能ギャップは事業機会として妥当性が高い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50" b="1">
                <a:solidFill>
                  <a:srgbClr val="009E8D"/>
                </a:solidFill>
                <a:latin typeface="Yu Gothic UI"/>
              </a:rPr>
              <a:t>● 中小企業のIT予算制約に対しては、低価格の定額課金モデルと補助金活用の両面でアプローチする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50" b="1">
                <a:solidFill>
                  <a:srgbClr val="009E8D"/>
                </a:solidFill>
                <a:latin typeface="Yu Gothic UI"/>
              </a:rPr>
              <a:t>● Year1はPoC・MVP開発を優先し、Year3での単年度黒字化（ARR約2.5億円）を目指すロードマップを設定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977639"/>
            <a:ext cx="11064240" cy="2103120"/>
          </a:xfrm>
          <a:prstGeom prst="roundRect">
            <a:avLst/>
          </a:prstGeom>
          <a:solidFill>
            <a:srgbClr val="24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160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A02E"/>
                </a:solidFill>
                <a:latin typeface="Yu Gothic UI"/>
              </a:rPr>
              <a:t>Next 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572000"/>
            <a:ext cx="10424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350" b="1">
                <a:solidFill>
                  <a:srgbClr val="E8A02E"/>
                </a:solidFill>
                <a:latin typeface="Yu Gothic UI"/>
              </a:rPr>
              <a:t>● ターゲット企業（従業員10〜300名規模）へのインタビュー・PoC実施による価格受容性の検証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350" b="1">
                <a:solidFill>
                  <a:srgbClr val="E8A02E"/>
                </a:solidFill>
                <a:latin typeface="Yu Gothic UI"/>
              </a:rPr>
              <a:t>● Slack／Teams／メール通知機能を含むMVPの開発着手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350" b="1">
                <a:solidFill>
                  <a:srgbClr val="E8A02E"/>
                </a:solidFill>
                <a:latin typeface="Yu Gothic UI"/>
              </a:rPr>
              <a:t>● デジタル化・AI導入補助金2026の対象ツール登録に向けた準備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